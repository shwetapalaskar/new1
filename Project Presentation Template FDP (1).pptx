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59" r:id="rId5"/>
    <p:sldId id="284" r:id="rId6"/>
    <p:sldId id="260" r:id="rId7"/>
    <p:sldId id="281" r:id="rId8"/>
    <p:sldId id="279" r:id="rId9"/>
    <p:sldId id="262" r:id="rId10"/>
    <p:sldId id="264" r:id="rId11"/>
    <p:sldId id="278" r:id="rId12"/>
    <p:sldId id="273" r:id="rId13"/>
    <p:sldId id="277" r:id="rId14"/>
    <p:sldId id="280" r:id="rId15"/>
    <p:sldId id="286" r:id="rId16"/>
    <p:sldId id="285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7F198B6-46AB-E987-6029-0BC21978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BED6C947-F263-43FE-F2EE-864BF8D61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23D908FB-4881-9B59-4816-0965815F7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3900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68B40DC-7D13-D1F3-B3F0-6289AB86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93092C2-43EB-9927-B5E2-DFFE43A83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00BFB171-709F-E779-E3B3-9DDA4A06E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431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6F382264-E9F3-617D-EB96-57837FB78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25AB4139-E85F-D524-1B0D-01ECFCBE2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3B55CAFC-96D5-A13C-B36C-19E52B3D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7751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67" y="521208"/>
            <a:ext cx="9553829" cy="310896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FDP on Agentic AI: Foundations, Applications, and Future Directions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978" y="2880074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US" b="1" i="1" dirty="0">
                <a:solidFill>
                  <a:schemeClr val="tx1"/>
                </a:solidFill>
              </a:rPr>
              <a:t>Exploring the Power of Agentic AI with IBM Granite and </a:t>
            </a:r>
            <a:r>
              <a:rPr lang="en-US" b="1" i="1" dirty="0" err="1">
                <a:solidFill>
                  <a:schemeClr val="tx1"/>
                </a:solidFill>
              </a:rPr>
              <a:t>LangFlow</a:t>
            </a:r>
            <a:r>
              <a:rPr lang="en-US" b="1" i="1" dirty="0">
                <a:solidFill>
                  <a:schemeClr val="tx1"/>
                </a:solidFill>
              </a:rPr>
              <a:t>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24776" y="50606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SKYMINDS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96297" y="1170671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05378947"/>
              </p:ext>
            </p:extLst>
          </p:nvPr>
        </p:nvGraphicFramePr>
        <p:xfrm>
          <a:off x="1596852" y="1942025"/>
          <a:ext cx="7230400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9500" y="5103276"/>
            <a:ext cx="766140" cy="957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500" y="3772694"/>
            <a:ext cx="869440" cy="1049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>
            <a:extLst>
              <a:ext uri="{FF2B5EF4-FFF2-40B4-BE49-F238E27FC236}">
                <a16:creationId xmlns:a16="http://schemas.microsoft.com/office/drawing/2014/main" id="{286A03B7-10C8-4B3E-AB7E-1BEE35090A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80" y="386939"/>
            <a:ext cx="5901439" cy="9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103418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Travel Agent</a:t>
            </a:r>
          </a:p>
          <a:p>
            <a:r>
              <a:rPr lang="en-US" sz="2400" b="1" dirty="0"/>
              <a:t>The Challenge</a:t>
            </a:r>
            <a:br>
              <a:rPr lang="en-US" sz="2400" dirty="0"/>
            </a:br>
            <a:r>
              <a:rPr lang="en-US" sz="2400" dirty="0"/>
              <a:t>Travel planning can be overwhelming, as individuals often struggle with:</a:t>
            </a:r>
          </a:p>
          <a:p>
            <a:r>
              <a:rPr lang="en-US" sz="2400" b="1" dirty="0"/>
              <a:t>Information overload</a:t>
            </a:r>
            <a:r>
              <a:rPr lang="en-US" sz="2400" dirty="0"/>
              <a:t> – browsing multiple sites for flights, hotels, and activities.</a:t>
            </a:r>
          </a:p>
          <a:p>
            <a:r>
              <a:rPr lang="en-US" sz="2400" b="1" dirty="0"/>
              <a:t>Personalization gaps</a:t>
            </a:r>
            <a:r>
              <a:rPr lang="en-US" sz="2400" dirty="0"/>
              <a:t> – generic suggestions that don’t match user interests, budgets, or travel styles.</a:t>
            </a:r>
          </a:p>
          <a:p>
            <a:r>
              <a:rPr lang="en-US" sz="2400" b="1" dirty="0"/>
              <a:t>Unreliable sources</a:t>
            </a:r>
            <a:r>
              <a:rPr lang="en-US" sz="2400" dirty="0"/>
              <a:t> – scattered, inconsistent information about destinations, local culture, or safety.</a:t>
            </a:r>
          </a:p>
          <a:p>
            <a:r>
              <a:rPr lang="en-US" sz="2400" b="1" dirty="0"/>
              <a:t>Dynamic conditions</a:t>
            </a:r>
            <a:r>
              <a:rPr lang="en-US" sz="2400" dirty="0"/>
              <a:t> – sudden changes in weather, transport schedules, or local advisories.</a:t>
            </a:r>
          </a:p>
          <a:p>
            <a:r>
              <a:rPr lang="en-US" sz="2400" dirty="0"/>
              <a:t>Without a reliable, intelligent assistant, travelers spend excessive time researching and still end up making suboptimal choices, leading to poor travel experiences, overspending, or missed opportunities.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124712" y="1801400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your solution by text , diagram .We are using Agentic AI system . ….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9F20E-D62D-BCCF-AE0C-5A92A4A7A549}"/>
              </a:ext>
            </a:extLst>
          </p:cNvPr>
          <p:cNvSpPr txBox="1"/>
          <p:nvPr/>
        </p:nvSpPr>
        <p:spPr>
          <a:xfrm>
            <a:off x="1033272" y="815376"/>
            <a:ext cx="66202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work </a:t>
            </a:r>
            <a:endParaRPr lang="en-US" sz="4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76B6693F-01D9-DF37-8C49-2DF9328A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>
            <a:extLst>
              <a:ext uri="{FF2B5EF4-FFF2-40B4-BE49-F238E27FC236}">
                <a16:creationId xmlns:a16="http://schemas.microsoft.com/office/drawing/2014/main" id="{6900E526-ECD0-DEDB-96C1-30EBE53C0C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200" y="639140"/>
            <a:ext cx="5901439" cy="9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C00F1F1B-0CAF-371A-DF99-7F5A4E356074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B919C-B2BC-6EC8-2768-F649EBA8A817}"/>
              </a:ext>
            </a:extLst>
          </p:cNvPr>
          <p:cNvSpPr txBox="1"/>
          <p:nvPr/>
        </p:nvSpPr>
        <p:spPr>
          <a:xfrm>
            <a:off x="1005840" y="1584102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your solution by text , diagram .We are using Agentic AI system . ….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7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1" y="323239"/>
            <a:ext cx="3587948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Overview</a:t>
            </a:r>
            <a:endParaRPr sz="3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84E1F-5625-5C8D-C10A-37647B49CC64}"/>
              </a:ext>
            </a:extLst>
          </p:cNvPr>
          <p:cNvSpPr txBox="1"/>
          <p:nvPr/>
        </p:nvSpPr>
        <p:spPr>
          <a:xfrm>
            <a:off x="621792" y="1389888"/>
            <a:ext cx="882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going to use </a:t>
            </a:r>
            <a:r>
              <a:rPr lang="en-US" dirty="0" err="1"/>
              <a:t>Langflow</a:t>
            </a:r>
            <a:r>
              <a:rPr lang="en-US" dirty="0"/>
              <a:t> platform . We are using IBM granite models 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 err="1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Used </a:t>
            </a:r>
            <a:endParaRPr sz="3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the use of each </a:t>
            </a:r>
            <a:r>
              <a:rPr lang="en-US" dirty="0" err="1"/>
              <a:t>langflow</a:t>
            </a:r>
            <a:r>
              <a:rPr lang="en-US" dirty="0"/>
              <a:t> component  used into you project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1)Chat Input –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IBM </a:t>
            </a:r>
            <a:r>
              <a:rPr lang="en-US" dirty="0" err="1"/>
              <a:t>watsonx</a:t>
            </a:r>
            <a:r>
              <a:rPr lang="en-US" dirty="0"/>
              <a:t> AI Agent</a:t>
            </a:r>
          </a:p>
          <a:p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File component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Chat output 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>
            <a:extLst>
              <a:ext uri="{FF2B5EF4-FFF2-40B4-BE49-F238E27FC236}">
                <a16:creationId xmlns:a16="http://schemas.microsoft.com/office/drawing/2014/main" id="{B44D301C-393F-354F-3E88-518CAEB33CE6}"/>
              </a:ext>
            </a:extLst>
          </p:cNvPr>
          <p:cNvSpPr txBox="1"/>
          <p:nvPr/>
        </p:nvSpPr>
        <p:spPr>
          <a:xfrm>
            <a:off x="1992086" y="662974"/>
            <a:ext cx="8207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997" y="1194583"/>
            <a:ext cx="8846005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825" y="1144600"/>
            <a:ext cx="9398152" cy="5344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1992086" y="662974"/>
            <a:ext cx="8207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 in your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804672" y="1389888"/>
            <a:ext cx="6885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how Agentic AI help to find solution of the problem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Agent  , Chat input , Chat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model -  for </a:t>
            </a:r>
            <a:r>
              <a:rPr lang="en-US" sz="1800" dirty="0" err="1"/>
              <a:t>eg</a:t>
            </a:r>
            <a:r>
              <a:rPr lang="en-US" sz="1800" dirty="0"/>
              <a:t> – ibm-granite-3-2-8b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if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2324967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First platform merging micro‑climate sensing,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GenAI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policy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retrieval for urban adaptation.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Uses non‑wearable, rooftop nodes—cheaper and easier to deploy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city‑wide.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Granite‑guarded outputs ensure bias‑free, regulation‑compliant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advice.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5‑second loop from sensor trigger to official alert.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4)Flow diagram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 shots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·[ add 5 to 6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scrren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shots of your project’s output in separate slides]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99D00344-5B67-433B-BF41-6FF60554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8850A1AD-54DA-E0D2-BBDE-6FC982EA42E9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572CE73-33D8-C86E-0D7B-90085D725DF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·[ write your project future scope]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C7EF47D-7F96-CB94-7A7E-634F995E6896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9BD3EB2-ACA1-57C7-B634-3508C2F0B2B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B44C2E7-B485-4CCE-000F-CAE545A8C4FD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94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3B608835-6660-106E-C036-AF9BDEC4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F3E0981-204F-0F82-68DE-3C048E0E1D65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715285A-657A-622C-0C9C-CA8064B351DB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·[ write references ]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5A186675-F31E-CD40-8E19-670659BF664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3D49CEA-78B6-DF59-D188-73BE686976A0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22FE179E-F549-C04D-AA8D-D23281E1CE6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996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491</Words>
  <Application>Microsoft Office PowerPoint</Application>
  <PresentationFormat>Widescreen</PresentationFormat>
  <Paragraphs>104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FDP on Agentic AI: Foundations, Applications, and Future Directions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20</cp:revision>
  <dcterms:created xsi:type="dcterms:W3CDTF">2025-07-08T05:06:56Z</dcterms:created>
  <dcterms:modified xsi:type="dcterms:W3CDTF">2025-11-14T16:23:20Z</dcterms:modified>
</cp:coreProperties>
</file>